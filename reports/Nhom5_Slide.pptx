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sap Semi-Bold" charset="1" panose="020F0704030202060203"/>
      <p:regular r:id="rId24"/>
    </p:embeddedFont>
    <p:embeddedFont>
      <p:font typeface="Asap Bold" charset="1" panose="020F0804030202060203"/>
      <p:regular r:id="rId25"/>
    </p:embeddedFont>
    <p:embeddedFont>
      <p:font typeface="Asap" charset="1" panose="020F0504030202060203"/>
      <p:regular r:id="rId26"/>
    </p:embeddedFont>
    <p:embeddedFont>
      <p:font typeface="Noto Sans Bold" charset="1" panose="020B0802040504020204"/>
      <p:regular r:id="rId27"/>
    </p:embeddedFont>
    <p:embeddedFont>
      <p:font typeface="Asap Medium" charset="1" panose="020F0604030202060203"/>
      <p:regular r:id="rId28"/>
    </p:embeddedFont>
    <p:embeddedFont>
      <p:font typeface="Noto Sans" charset="1" panose="020B050204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https://fit.uit.edu.vn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1543096" y="2467802"/>
            <a:ext cx="16230600" cy="7819198"/>
          </a:xfrm>
          <a:prstGeom prst="rect">
            <a:avLst/>
          </a:prstGeom>
          <a:solidFill>
            <a:srgbClr val="1836B2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144000" y="0"/>
            <a:ext cx="12353301" cy="10697402"/>
            <a:chOff x="0" y="0"/>
            <a:chExt cx="4282440" cy="3708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39251" t="0" r="-1435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793704"/>
            <a:ext cx="1263667" cy="1020352"/>
          </a:xfrm>
          <a:custGeom>
            <a:avLst/>
            <a:gdLst/>
            <a:ahLst/>
            <a:cxnLst/>
            <a:rect r="r" b="b" t="t" l="l"/>
            <a:pathLst>
              <a:path h="1020352" w="1263667">
                <a:moveTo>
                  <a:pt x="0" y="0"/>
                </a:moveTo>
                <a:lnTo>
                  <a:pt x="1263667" y="0"/>
                </a:lnTo>
                <a:lnTo>
                  <a:pt x="1263667" y="1020353"/>
                </a:lnTo>
                <a:lnTo>
                  <a:pt x="0" y="1020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1448" y="822608"/>
            <a:ext cx="8237812" cy="90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2604" b="tru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TRƯỜNG ĐẠI HỌC CÔNG NGHỆ THÔNG TIN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b="true" sz="2604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  <a:hlinkClick r:id="rId4" tooltip="https://fit.uit.edu.vn"/>
              </a:rPr>
              <a:t>KHOA KHOA HỌC VÀ KỸ THUẬT THÔNG TIN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14821"/>
            <a:ext cx="7422802" cy="40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</a:pPr>
            <a:r>
              <a:rPr lang="en-US" b="true" sz="5999" spc="179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PHÂN TÍCH CẤU HÌNH VÀ XÂY DỰNG MÔ HÌNH DỰ ĐOÁN GIÁ LAPTOP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40111"/>
            <a:ext cx="7422802" cy="1976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Thành viên Nhóm 5: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Chu Văn Thơm   -  MSSV: 25410314 </a:t>
            </a:r>
          </a:p>
          <a:p>
            <a:pPr algn="l" marL="604524" indent="-302262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Trần Ngọc Tâm  -  MSSV: 25410300</a:t>
            </a:r>
          </a:p>
          <a:p>
            <a:pPr algn="l" marL="604524" indent="-302262" lvl="1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Hồ Thiên Phúc   -  MSSV: 25410284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27210"/>
            <a:ext cx="742280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  <a:spcBef>
                <a:spcPct val="0"/>
              </a:spcBef>
            </a:pPr>
            <a:r>
              <a:rPr lang="en-US" sz="2800" spc="84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PHÂ</a:t>
            </a:r>
            <a:r>
              <a:rPr lang="en-US" sz="2800" spc="84" u="non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N TÍCH VÀ TRỰC QUAN DỮ LIỆU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4477" y="-3460546"/>
            <a:ext cx="12450234" cy="6921093"/>
            <a:chOff x="0" y="0"/>
            <a:chExt cx="9663778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63778" cy="5372100"/>
            </a:xfrm>
            <a:custGeom>
              <a:avLst/>
              <a:gdLst/>
              <a:ahLst/>
              <a:cxnLst/>
              <a:rect r="r" b="b" t="t" l="l"/>
              <a:pathLst>
                <a:path h="5372100" w="9663778">
                  <a:moveTo>
                    <a:pt x="8113108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8113108" y="5372100"/>
                  </a:lnTo>
                  <a:lnTo>
                    <a:pt x="9663778" y="2686050"/>
                  </a:lnTo>
                  <a:lnTo>
                    <a:pt x="8113108" y="0"/>
                  </a:lnTo>
                  <a:close/>
                </a:path>
              </a:pathLst>
            </a:custGeom>
            <a:solidFill>
              <a:srgbClr val="1836B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60640" y="1028700"/>
            <a:ext cx="15039322" cy="1701967"/>
            <a:chOff x="0" y="0"/>
            <a:chExt cx="20052429" cy="2269289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0" y="0"/>
              <a:ext cx="20052429" cy="2269289"/>
              <a:chOff x="0" y="0"/>
              <a:chExt cx="47470215" cy="5372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7470216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47470216">
                    <a:moveTo>
                      <a:pt x="45919544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45919544" y="5372100"/>
                    </a:lnTo>
                    <a:lnTo>
                      <a:pt x="47470216" y="2686050"/>
                    </a:lnTo>
                    <a:lnTo>
                      <a:pt x="45919544" y="0"/>
                    </a:lnTo>
                    <a:close/>
                  </a:path>
                </a:pathLst>
              </a:custGeom>
              <a:solidFill>
                <a:srgbClr val="A066CB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1161554" y="574786"/>
              <a:ext cx="16467657" cy="1171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6600"/>
                </a:lnSpc>
                <a:spcBef>
                  <a:spcPct val="0"/>
                </a:spcBef>
              </a:pPr>
              <a:r>
                <a:rPr lang="en-US" b="true" sz="6000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T</a:t>
              </a:r>
              <a:r>
                <a:rPr lang="en-US" b="true" sz="6000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hành viên trong nhóm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27978" y="4667865"/>
            <a:ext cx="3103821" cy="2593746"/>
            <a:chOff x="0" y="0"/>
            <a:chExt cx="854850" cy="714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4850" cy="714366"/>
            </a:xfrm>
            <a:custGeom>
              <a:avLst/>
              <a:gdLst/>
              <a:ahLst/>
              <a:cxnLst/>
              <a:rect r="r" b="b" t="t" l="l"/>
              <a:pathLst>
                <a:path h="714366" w="854850">
                  <a:moveTo>
                    <a:pt x="0" y="0"/>
                  </a:moveTo>
                  <a:lnTo>
                    <a:pt x="854850" y="0"/>
                  </a:lnTo>
                  <a:lnTo>
                    <a:pt x="854850" y="714366"/>
                  </a:lnTo>
                  <a:lnTo>
                    <a:pt x="0" y="714366"/>
                  </a:lnTo>
                  <a:close/>
                </a:path>
              </a:pathLst>
            </a:custGeom>
            <a:blipFill>
              <a:blip r:embed="rId2"/>
              <a:stretch>
                <a:fillRect l="0" t="-9832" r="0" b="-983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67578" y="4667865"/>
            <a:ext cx="3103821" cy="2593746"/>
            <a:chOff x="0" y="0"/>
            <a:chExt cx="854850" cy="7143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4850" cy="714366"/>
            </a:xfrm>
            <a:custGeom>
              <a:avLst/>
              <a:gdLst/>
              <a:ahLst/>
              <a:cxnLst/>
              <a:rect r="r" b="b" t="t" l="l"/>
              <a:pathLst>
                <a:path h="714366" w="854850">
                  <a:moveTo>
                    <a:pt x="0" y="0"/>
                  </a:moveTo>
                  <a:lnTo>
                    <a:pt x="854850" y="0"/>
                  </a:lnTo>
                  <a:lnTo>
                    <a:pt x="854850" y="714366"/>
                  </a:lnTo>
                  <a:lnTo>
                    <a:pt x="0" y="714366"/>
                  </a:lnTo>
                  <a:close/>
                </a:path>
              </a:pathLst>
            </a:custGeom>
            <a:blipFill>
              <a:blip r:embed="rId3"/>
              <a:stretch>
                <a:fillRect l="0" t="-29777" r="0" b="-2977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56201" y="4667865"/>
            <a:ext cx="3103821" cy="2593746"/>
            <a:chOff x="0" y="0"/>
            <a:chExt cx="854850" cy="7143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4850" cy="714366"/>
            </a:xfrm>
            <a:custGeom>
              <a:avLst/>
              <a:gdLst/>
              <a:ahLst/>
              <a:cxnLst/>
              <a:rect r="r" b="b" t="t" l="l"/>
              <a:pathLst>
                <a:path h="714366" w="854850">
                  <a:moveTo>
                    <a:pt x="0" y="0"/>
                  </a:moveTo>
                  <a:lnTo>
                    <a:pt x="854850" y="0"/>
                  </a:lnTo>
                  <a:lnTo>
                    <a:pt x="854850" y="714366"/>
                  </a:lnTo>
                  <a:lnTo>
                    <a:pt x="0" y="714366"/>
                  </a:lnTo>
                  <a:close/>
                </a:path>
              </a:pathLst>
            </a:custGeom>
            <a:blipFill>
              <a:blip r:embed="rId4"/>
              <a:stretch>
                <a:fillRect l="0" t="-9832" r="0" b="-983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27978" y="7704734"/>
            <a:ext cx="3103821" cy="56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32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Chu Văn Thơm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27978" y="8377605"/>
            <a:ext cx="3103821" cy="40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pc="1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25410314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67578" y="7704734"/>
            <a:ext cx="3103821" cy="56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32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Trần Ngọc Tâm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6601" y="8377605"/>
            <a:ext cx="3103821" cy="40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pc="1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25410300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6201" y="7704734"/>
            <a:ext cx="3103821" cy="566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332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Hồ Thiên Phúc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56201" y="8377605"/>
            <a:ext cx="3103821" cy="40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pc="1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25410284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77278" y="0"/>
            <a:ext cx="17211375" cy="13842185"/>
            <a:chOff x="0" y="0"/>
            <a:chExt cx="6679670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7967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679670">
                  <a:moveTo>
                    <a:pt x="512900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5129000" y="5372100"/>
                  </a:lnTo>
                  <a:lnTo>
                    <a:pt x="6679670" y="2686050"/>
                  </a:lnTo>
                  <a:lnTo>
                    <a:pt x="5129000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391252" y="3327233"/>
            <a:ext cx="5848430" cy="486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G</a:t>
            </a: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iới thiệu đề tài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Mô tả dữ liệu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Tiền xử lý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Thăm dò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Chọn biến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Mô hình hóa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Kết quả và hạn chế</a:t>
            </a:r>
          </a:p>
          <a:p>
            <a:pPr algn="l" marL="690881" indent="-345440" lvl="1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Demo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727120" y="3441533"/>
            <a:ext cx="9273883" cy="1701967"/>
            <a:chOff x="0" y="0"/>
            <a:chExt cx="12365178" cy="2269289"/>
          </a:xfrm>
        </p:grpSpPr>
        <p:grpSp>
          <p:nvGrpSpPr>
            <p:cNvPr name="Group 6" id="6"/>
            <p:cNvGrpSpPr/>
            <p:nvPr/>
          </p:nvGrpSpPr>
          <p:grpSpPr>
            <a:xfrm rot="-10800000">
              <a:off x="0" y="0"/>
              <a:ext cx="12365178" cy="2269289"/>
              <a:chOff x="0" y="0"/>
              <a:chExt cx="29272148" cy="53721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9272148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29272148">
                    <a:moveTo>
                      <a:pt x="27721477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27721477" y="5372100"/>
                    </a:lnTo>
                    <a:lnTo>
                      <a:pt x="29272148" y="2686050"/>
                    </a:lnTo>
                    <a:lnTo>
                      <a:pt x="27721477" y="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2967537" y="441436"/>
              <a:ext cx="7778037" cy="1462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87"/>
                </a:lnSpc>
                <a:spcBef>
                  <a:spcPct val="0"/>
                </a:spcBef>
              </a:pPr>
              <a:r>
                <a:rPr lang="en-US" b="true" sz="7625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Nội dung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60692" y="782881"/>
            <a:ext cx="1263667" cy="1020352"/>
          </a:xfrm>
          <a:custGeom>
            <a:avLst/>
            <a:gdLst/>
            <a:ahLst/>
            <a:cxnLst/>
            <a:rect r="r" b="b" t="t" l="l"/>
            <a:pathLst>
              <a:path h="1020352" w="1263667">
                <a:moveTo>
                  <a:pt x="0" y="0"/>
                </a:moveTo>
                <a:lnTo>
                  <a:pt x="1263667" y="0"/>
                </a:lnTo>
                <a:lnTo>
                  <a:pt x="1263667" y="1020352"/>
                </a:lnTo>
                <a:lnTo>
                  <a:pt x="0" y="1020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53440" y="811784"/>
            <a:ext cx="8237812" cy="90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2604" b="tru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ĐẠI HỌC QUỐC GIA TP. HỒ CHÍ MINH</a:t>
            </a:r>
          </a:p>
          <a:p>
            <a:pPr algn="l">
              <a:lnSpc>
                <a:spcPts val="3646"/>
              </a:lnSpc>
              <a:spcBef>
                <a:spcPct val="0"/>
              </a:spcBef>
            </a:pPr>
            <a:r>
              <a:rPr lang="en-US" sz="2604" b="tru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TRƯỜNG ĐẠI HỌC CÔNG NGHỆ THÔNG TIN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23176"/>
            <a:ext cx="7360392" cy="99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3"/>
              </a:lnSpc>
            </a:pPr>
            <a:r>
              <a:rPr lang="en-US" b="true" sz="6399" u="non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Giới thiệu đề tài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057400"/>
            <a:ext cx="7989754" cy="3319256"/>
            <a:chOff x="0" y="0"/>
            <a:chExt cx="2093390" cy="869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93390" cy="869676"/>
            </a:xfrm>
            <a:custGeom>
              <a:avLst/>
              <a:gdLst/>
              <a:ahLst/>
              <a:cxnLst/>
              <a:rect r="r" b="b" t="t" l="l"/>
              <a:pathLst>
                <a:path h="869676" w="2093390">
                  <a:moveTo>
                    <a:pt x="40697" y="0"/>
                  </a:moveTo>
                  <a:lnTo>
                    <a:pt x="2052693" y="0"/>
                  </a:lnTo>
                  <a:cubicBezTo>
                    <a:pt x="2063486" y="0"/>
                    <a:pt x="2073838" y="4288"/>
                    <a:pt x="2081470" y="11920"/>
                  </a:cubicBezTo>
                  <a:cubicBezTo>
                    <a:pt x="2089102" y="19552"/>
                    <a:pt x="2093390" y="29904"/>
                    <a:pt x="2093390" y="40697"/>
                  </a:cubicBezTo>
                  <a:lnTo>
                    <a:pt x="2093390" y="828979"/>
                  </a:lnTo>
                  <a:cubicBezTo>
                    <a:pt x="2093390" y="851455"/>
                    <a:pt x="2075169" y="869676"/>
                    <a:pt x="2052693" y="869676"/>
                  </a:cubicBezTo>
                  <a:lnTo>
                    <a:pt x="40697" y="869676"/>
                  </a:lnTo>
                  <a:cubicBezTo>
                    <a:pt x="29904" y="869676"/>
                    <a:pt x="19552" y="865388"/>
                    <a:pt x="11920" y="857756"/>
                  </a:cubicBezTo>
                  <a:cubicBezTo>
                    <a:pt x="4288" y="850124"/>
                    <a:pt x="0" y="839772"/>
                    <a:pt x="0" y="828979"/>
                  </a:cubicBezTo>
                  <a:lnTo>
                    <a:pt x="0" y="40697"/>
                  </a:lnTo>
                  <a:cubicBezTo>
                    <a:pt x="0" y="29904"/>
                    <a:pt x="4288" y="19552"/>
                    <a:pt x="11920" y="11920"/>
                  </a:cubicBezTo>
                  <a:cubicBezTo>
                    <a:pt x="19552" y="4288"/>
                    <a:pt x="29904" y="0"/>
                    <a:pt x="40697" y="0"/>
                  </a:cubicBezTo>
                  <a:close/>
                </a:path>
              </a:pathLst>
            </a:custGeom>
            <a:solidFill>
              <a:srgbClr val="F1F8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093390" cy="879201"/>
            </a:xfrm>
            <a:prstGeom prst="rect">
              <a:avLst/>
            </a:prstGeom>
          </p:spPr>
          <p:txBody>
            <a:bodyPr anchor="ctr" rtlCol="false" tIns="51065" lIns="51065" bIns="51065" rIns="51065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69546" y="2057400"/>
            <a:ext cx="7989754" cy="3319256"/>
            <a:chOff x="0" y="0"/>
            <a:chExt cx="2093390" cy="8696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3390" cy="869676"/>
            </a:xfrm>
            <a:custGeom>
              <a:avLst/>
              <a:gdLst/>
              <a:ahLst/>
              <a:cxnLst/>
              <a:rect r="r" b="b" t="t" l="l"/>
              <a:pathLst>
                <a:path h="869676" w="2093390">
                  <a:moveTo>
                    <a:pt x="40697" y="0"/>
                  </a:moveTo>
                  <a:lnTo>
                    <a:pt x="2052693" y="0"/>
                  </a:lnTo>
                  <a:cubicBezTo>
                    <a:pt x="2063486" y="0"/>
                    <a:pt x="2073838" y="4288"/>
                    <a:pt x="2081470" y="11920"/>
                  </a:cubicBezTo>
                  <a:cubicBezTo>
                    <a:pt x="2089102" y="19552"/>
                    <a:pt x="2093390" y="29904"/>
                    <a:pt x="2093390" y="40697"/>
                  </a:cubicBezTo>
                  <a:lnTo>
                    <a:pt x="2093390" y="828979"/>
                  </a:lnTo>
                  <a:cubicBezTo>
                    <a:pt x="2093390" y="851455"/>
                    <a:pt x="2075169" y="869676"/>
                    <a:pt x="2052693" y="869676"/>
                  </a:cubicBezTo>
                  <a:lnTo>
                    <a:pt x="40697" y="869676"/>
                  </a:lnTo>
                  <a:cubicBezTo>
                    <a:pt x="29904" y="869676"/>
                    <a:pt x="19552" y="865388"/>
                    <a:pt x="11920" y="857756"/>
                  </a:cubicBezTo>
                  <a:cubicBezTo>
                    <a:pt x="4288" y="850124"/>
                    <a:pt x="0" y="839772"/>
                    <a:pt x="0" y="828979"/>
                  </a:cubicBezTo>
                  <a:lnTo>
                    <a:pt x="0" y="40697"/>
                  </a:lnTo>
                  <a:cubicBezTo>
                    <a:pt x="0" y="29904"/>
                    <a:pt x="4288" y="19552"/>
                    <a:pt x="11920" y="11920"/>
                  </a:cubicBezTo>
                  <a:cubicBezTo>
                    <a:pt x="19552" y="4288"/>
                    <a:pt x="29904" y="0"/>
                    <a:pt x="40697" y="0"/>
                  </a:cubicBezTo>
                  <a:close/>
                </a:path>
              </a:pathLst>
            </a:custGeom>
            <a:solidFill>
              <a:srgbClr val="E2F7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93390" cy="879201"/>
            </a:xfrm>
            <a:prstGeom prst="rect">
              <a:avLst/>
            </a:prstGeom>
          </p:spPr>
          <p:txBody>
            <a:bodyPr anchor="ctr" rtlCol="false" tIns="51065" lIns="51065" bIns="51065" rIns="51065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5659844"/>
            <a:ext cx="7989754" cy="3298927"/>
            <a:chOff x="0" y="0"/>
            <a:chExt cx="2093390" cy="864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3390" cy="864350"/>
            </a:xfrm>
            <a:custGeom>
              <a:avLst/>
              <a:gdLst/>
              <a:ahLst/>
              <a:cxnLst/>
              <a:rect r="r" b="b" t="t" l="l"/>
              <a:pathLst>
                <a:path h="864350" w="2093390">
                  <a:moveTo>
                    <a:pt x="40697" y="0"/>
                  </a:moveTo>
                  <a:lnTo>
                    <a:pt x="2052693" y="0"/>
                  </a:lnTo>
                  <a:cubicBezTo>
                    <a:pt x="2063486" y="0"/>
                    <a:pt x="2073838" y="4288"/>
                    <a:pt x="2081470" y="11920"/>
                  </a:cubicBezTo>
                  <a:cubicBezTo>
                    <a:pt x="2089102" y="19552"/>
                    <a:pt x="2093390" y="29904"/>
                    <a:pt x="2093390" y="40697"/>
                  </a:cubicBezTo>
                  <a:lnTo>
                    <a:pt x="2093390" y="823652"/>
                  </a:lnTo>
                  <a:cubicBezTo>
                    <a:pt x="2093390" y="834446"/>
                    <a:pt x="2089102" y="844797"/>
                    <a:pt x="2081470" y="852430"/>
                  </a:cubicBezTo>
                  <a:cubicBezTo>
                    <a:pt x="2073838" y="860062"/>
                    <a:pt x="2063486" y="864350"/>
                    <a:pt x="2052693" y="864350"/>
                  </a:cubicBezTo>
                  <a:lnTo>
                    <a:pt x="40697" y="864350"/>
                  </a:lnTo>
                  <a:cubicBezTo>
                    <a:pt x="18221" y="864350"/>
                    <a:pt x="0" y="846129"/>
                    <a:pt x="0" y="823652"/>
                  </a:cubicBezTo>
                  <a:lnTo>
                    <a:pt x="0" y="40697"/>
                  </a:lnTo>
                  <a:cubicBezTo>
                    <a:pt x="0" y="29904"/>
                    <a:pt x="4288" y="19552"/>
                    <a:pt x="11920" y="11920"/>
                  </a:cubicBezTo>
                  <a:cubicBezTo>
                    <a:pt x="19552" y="4288"/>
                    <a:pt x="29904" y="0"/>
                    <a:pt x="40697" y="0"/>
                  </a:cubicBezTo>
                  <a:close/>
                </a:path>
              </a:pathLst>
            </a:custGeom>
            <a:solidFill>
              <a:srgbClr val="F2F4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93390" cy="873875"/>
            </a:xfrm>
            <a:prstGeom prst="rect">
              <a:avLst/>
            </a:prstGeom>
          </p:spPr>
          <p:txBody>
            <a:bodyPr anchor="ctr" rtlCol="false" tIns="51065" lIns="51065" bIns="51065" rIns="51065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69546" y="5659844"/>
            <a:ext cx="7989754" cy="3298927"/>
            <a:chOff x="0" y="0"/>
            <a:chExt cx="2093390" cy="864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3390" cy="864350"/>
            </a:xfrm>
            <a:custGeom>
              <a:avLst/>
              <a:gdLst/>
              <a:ahLst/>
              <a:cxnLst/>
              <a:rect r="r" b="b" t="t" l="l"/>
              <a:pathLst>
                <a:path h="864350" w="2093390">
                  <a:moveTo>
                    <a:pt x="40697" y="0"/>
                  </a:moveTo>
                  <a:lnTo>
                    <a:pt x="2052693" y="0"/>
                  </a:lnTo>
                  <a:cubicBezTo>
                    <a:pt x="2063486" y="0"/>
                    <a:pt x="2073838" y="4288"/>
                    <a:pt x="2081470" y="11920"/>
                  </a:cubicBezTo>
                  <a:cubicBezTo>
                    <a:pt x="2089102" y="19552"/>
                    <a:pt x="2093390" y="29904"/>
                    <a:pt x="2093390" y="40697"/>
                  </a:cubicBezTo>
                  <a:lnTo>
                    <a:pt x="2093390" y="823652"/>
                  </a:lnTo>
                  <a:cubicBezTo>
                    <a:pt x="2093390" y="834446"/>
                    <a:pt x="2089102" y="844797"/>
                    <a:pt x="2081470" y="852430"/>
                  </a:cubicBezTo>
                  <a:cubicBezTo>
                    <a:pt x="2073838" y="860062"/>
                    <a:pt x="2063486" y="864350"/>
                    <a:pt x="2052693" y="864350"/>
                  </a:cubicBezTo>
                  <a:lnTo>
                    <a:pt x="40697" y="864350"/>
                  </a:lnTo>
                  <a:cubicBezTo>
                    <a:pt x="18221" y="864350"/>
                    <a:pt x="0" y="846129"/>
                    <a:pt x="0" y="823652"/>
                  </a:cubicBezTo>
                  <a:lnTo>
                    <a:pt x="0" y="40697"/>
                  </a:lnTo>
                  <a:cubicBezTo>
                    <a:pt x="0" y="29904"/>
                    <a:pt x="4288" y="19552"/>
                    <a:pt x="11920" y="11920"/>
                  </a:cubicBezTo>
                  <a:cubicBezTo>
                    <a:pt x="19552" y="4288"/>
                    <a:pt x="29904" y="0"/>
                    <a:pt x="40697" y="0"/>
                  </a:cubicBezTo>
                  <a:close/>
                </a:path>
              </a:pathLst>
            </a:custGeom>
            <a:solidFill>
              <a:srgbClr val="EAF8F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93390" cy="873875"/>
            </a:xfrm>
            <a:prstGeom prst="rect">
              <a:avLst/>
            </a:prstGeom>
          </p:spPr>
          <p:txBody>
            <a:bodyPr anchor="ctr" rtlCol="false" tIns="51065" lIns="51065" bIns="51065" rIns="51065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64488" y="2334078"/>
            <a:ext cx="155078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</a:t>
            </a:r>
            <a:r>
              <a:rPr lang="en-US" b="true" sz="2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tiêu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15855" y="2334078"/>
            <a:ext cx="241815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Phương pháp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855" y="5853120"/>
            <a:ext cx="343391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Cam</a:t>
            </a:r>
            <a:r>
              <a:rPr lang="en-US" b="true" sz="2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kết minh bạch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4488" y="5853120"/>
            <a:ext cx="245119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</a:t>
            </a:r>
            <a:r>
              <a:rPr lang="en-US" b="true" sz="2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 quả chính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4488" y="2946494"/>
            <a:ext cx="7106805" cy="171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Xác định yếu tố cấu hình ảnh hưởng mạnh nhất đến giá laptop.</a:t>
            </a:r>
          </a:p>
          <a:p>
            <a:pPr algn="l" marL="561339" indent="-280669" lvl="1">
              <a:lnSpc>
                <a:spcPts val="337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Xây dựng mô hình dự đoán giá bán (Price_euros).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15855" y="2965544"/>
            <a:ext cx="7122697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Python: pandas, seaborn, scikit-learn</a:t>
            </a:r>
          </a:p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Chọn biến: Pearson (biến số), ANOVA (biến phân loại)</a:t>
            </a:r>
          </a:p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Pipeline: StandardScaler →  PolynomialFeatures → LinearRegression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64488" y="6486850"/>
            <a:ext cx="705857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Hồi</a:t>
            </a: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quy tuyến tính (bậc 1) tốt nhất: R² test = 0.7725.</a:t>
            </a:r>
          </a:p>
          <a:p>
            <a:pPr algn="l" marL="561339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Bậc 2 và 3 bị overfitting.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855" y="6486850"/>
            <a:ext cx="6910432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</a:t>
            </a: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ữ liệu tham khảo từ Kaggle, không tự thu thập</a:t>
            </a:r>
          </a:p>
          <a:p>
            <a:pPr algn="l" marL="561337" indent="-280669" lvl="1">
              <a:lnSpc>
                <a:spcPts val="311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Mã nguồn, mô hình, báo cáo do nhóm tự thực hiện, không sao chép dự án mẫu hay đồ án môn khác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49764" y="2882422"/>
            <a:ext cx="10138097" cy="4724289"/>
          </a:xfrm>
          <a:custGeom>
            <a:avLst/>
            <a:gdLst/>
            <a:ahLst/>
            <a:cxnLst/>
            <a:rect r="r" b="b" t="t" l="l"/>
            <a:pathLst>
              <a:path h="4724289" w="10138097">
                <a:moveTo>
                  <a:pt x="0" y="0"/>
                </a:moveTo>
                <a:lnTo>
                  <a:pt x="10138098" y="0"/>
                </a:lnTo>
                <a:lnTo>
                  <a:pt x="10138098" y="4724289"/>
                </a:lnTo>
                <a:lnTo>
                  <a:pt x="0" y="4724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75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32389"/>
            <a:ext cx="9921154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Tổng quan bộ dữ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liệu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Mô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 tả bộ dữ liệu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40320"/>
            <a:ext cx="6103119" cy="586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Nguồn: Laptop Price Prediction (Kaggle)</a:t>
            </a:r>
          </a:p>
          <a:p>
            <a:pPr algn="l">
              <a:lnSpc>
                <a:spcPts val="2239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1303 mẫu × 13 t</a:t>
            </a: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huộc tính (8 phân loại, 5 số)</a:t>
            </a:r>
          </a:p>
          <a:p>
            <a:pPr algn="l">
              <a:lnSpc>
                <a:spcPts val="2239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Biến mục tiêu: Price_euros (174 – 6099 €)</a:t>
            </a:r>
          </a:p>
          <a:p>
            <a:pPr algn="l">
              <a:lnSpc>
                <a:spcPts val="2239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0 giá trị khuyết, 0 dòng trùng lặp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9921154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Ý nghĩa các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thuộc tính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Mô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 tả bộ dữ liệu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390775"/>
          <a:ext cx="7765178" cy="6867525"/>
        </p:xfrm>
        <a:graphic>
          <a:graphicData uri="http://schemas.openxmlformats.org/drawingml/2006/table">
            <a:tbl>
              <a:tblPr/>
              <a:tblGrid>
                <a:gridCol w="2421264"/>
                <a:gridCol w="1243599"/>
                <a:gridCol w="4100315"/>
              </a:tblGrid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Thuộc tính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Kiểu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Ý</a:t>
                      </a: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 </a:t>
                      </a: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nghĩa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laptop_ID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Mã định danh (bị loại)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Product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Tên sản phẩm (bị loại)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Company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Hãng sản xuất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TypeName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Dòng máy (Notebook, Gaming...)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85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Inches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float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Kích thước màn hình (10.1 – 18.4)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ScreenResolution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Độ phân giải, tấm nền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1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Cpu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Vi xử lý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54208" y="2390775"/>
          <a:ext cx="8038392" cy="6057900"/>
        </p:xfrm>
        <a:graphic>
          <a:graphicData uri="http://schemas.openxmlformats.org/drawingml/2006/table">
            <a:tbl>
              <a:tblPr/>
              <a:tblGrid>
                <a:gridCol w="2420858"/>
                <a:gridCol w="1243391"/>
                <a:gridCol w="4374142"/>
              </a:tblGrid>
              <a:tr h="814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Thuộc tính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Kiểu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Ý</a:t>
                      </a: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 </a:t>
                      </a: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nghĩa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814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RAM, GB (2 – 64)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Loại và dung lượng ổ cứng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Gpu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Card đồ họa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OpSys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str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Hệ điều hành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Weight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floa</a:t>
                      </a: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Cân nặng, kg (0.69 – 4.7)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4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Price_euros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float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Giá bán (€), biến mục tiêu (174 – 6099)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454208" y="8852535"/>
            <a:ext cx="52204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laptop_ID, Product bị loại khi tiền xử lý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235128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Tiền xử lý và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trích xuất đặc trưng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204343" y="2628847"/>
            <a:ext cx="9893637" cy="5244836"/>
            <a:chOff x="0" y="0"/>
            <a:chExt cx="13191516" cy="69931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87531" cy="3217516"/>
            </a:xfrm>
            <a:custGeom>
              <a:avLst/>
              <a:gdLst/>
              <a:ahLst/>
              <a:cxnLst/>
              <a:rect r="r" b="b" t="t" l="l"/>
              <a:pathLst>
                <a:path h="3217516" w="6187531">
                  <a:moveTo>
                    <a:pt x="0" y="0"/>
                  </a:moveTo>
                  <a:lnTo>
                    <a:pt x="6187531" y="0"/>
                  </a:lnTo>
                  <a:lnTo>
                    <a:pt x="6187531" y="3217516"/>
                  </a:lnTo>
                  <a:lnTo>
                    <a:pt x="0" y="3217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501330" y="1108044"/>
              <a:ext cx="1792816" cy="1001428"/>
              <a:chOff x="0" y="0"/>
              <a:chExt cx="2250893" cy="12573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50893" cy="1257300"/>
              </a:xfrm>
              <a:custGeom>
                <a:avLst/>
                <a:gdLst/>
                <a:ahLst/>
                <a:cxnLst/>
                <a:rect r="r" b="b" t="t" l="l"/>
                <a:pathLst>
                  <a:path h="1257300" w="2250893">
                    <a:moveTo>
                      <a:pt x="0" y="0"/>
                    </a:moveTo>
                    <a:lnTo>
                      <a:pt x="2250893" y="0"/>
                    </a:lnTo>
                    <a:lnTo>
                      <a:pt x="2250893" y="1257300"/>
                    </a:lnTo>
                    <a:lnTo>
                      <a:pt x="0" y="125730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641179" y="1225552"/>
              <a:ext cx="1559055" cy="747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0"/>
                </a:lnSpc>
              </a:pPr>
              <a:r>
                <a:rPr lang="en-US" sz="1792" b="true">
                  <a:solidFill>
                    <a:srgbClr val="475569"/>
                  </a:solidFill>
                  <a:latin typeface="Asap Bold"/>
                  <a:ea typeface="Asap Bold"/>
                  <a:cs typeface="Asap Bold"/>
                  <a:sym typeface="Asap Bold"/>
                </a:rPr>
                <a:t>Screen</a:t>
              </a:r>
            </a:p>
            <a:p>
              <a:pPr algn="ctr">
                <a:lnSpc>
                  <a:spcPts val="2150"/>
                </a:lnSpc>
              </a:pPr>
              <a:r>
                <a:rPr lang="en-US" sz="1792" b="true">
                  <a:solidFill>
                    <a:srgbClr val="475569"/>
                  </a:solidFill>
                  <a:latin typeface="Asap Bold"/>
                  <a:ea typeface="Asap Bold"/>
                  <a:cs typeface="Asap Bold"/>
                  <a:sym typeface="Asap Bold"/>
                </a:rPr>
                <a:t>Resolution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3663705" y="470771"/>
              <a:ext cx="2106014" cy="637273"/>
              <a:chOff x="0" y="0"/>
              <a:chExt cx="2644115" cy="800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644115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44115">
                    <a:moveTo>
                      <a:pt x="0" y="0"/>
                    </a:moveTo>
                    <a:lnTo>
                      <a:pt x="2644115" y="0"/>
                    </a:lnTo>
                    <a:lnTo>
                      <a:pt x="2644115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63665" y="592157"/>
              <a:ext cx="1706093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Touchscreen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4264888" y="1290122"/>
              <a:ext cx="903648" cy="637273"/>
              <a:chOff x="0" y="0"/>
              <a:chExt cx="1134536" cy="800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34536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1134536">
                    <a:moveTo>
                      <a:pt x="0" y="0"/>
                    </a:moveTo>
                    <a:lnTo>
                      <a:pt x="1134536" y="0"/>
                    </a:lnTo>
                    <a:lnTo>
                      <a:pt x="1134536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524190" y="1411507"/>
              <a:ext cx="385043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Ips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3779857" y="2192408"/>
              <a:ext cx="1989862" cy="637273"/>
              <a:chOff x="0" y="0"/>
              <a:chExt cx="2498285" cy="8001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498285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498285">
                    <a:moveTo>
                      <a:pt x="0" y="0"/>
                    </a:moveTo>
                    <a:lnTo>
                      <a:pt x="2498285" y="0"/>
                    </a:lnTo>
                    <a:lnTo>
                      <a:pt x="2498285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4059154" y="2313793"/>
              <a:ext cx="1431269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Resolution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false" rot="0">
              <a:off x="0" y="3775598"/>
              <a:ext cx="6187531" cy="3217516"/>
            </a:xfrm>
            <a:custGeom>
              <a:avLst/>
              <a:gdLst/>
              <a:ahLst/>
              <a:cxnLst/>
              <a:rect r="r" b="b" t="t" l="l"/>
              <a:pathLst>
                <a:path h="3217516" w="6187531">
                  <a:moveTo>
                    <a:pt x="0" y="0"/>
                  </a:moveTo>
                  <a:lnTo>
                    <a:pt x="6187531" y="0"/>
                  </a:lnTo>
                  <a:lnTo>
                    <a:pt x="6187531" y="3217516"/>
                  </a:lnTo>
                  <a:lnTo>
                    <a:pt x="0" y="3217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3726371" y="4204902"/>
              <a:ext cx="2142858" cy="637273"/>
              <a:chOff x="0" y="0"/>
              <a:chExt cx="2690372" cy="800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6903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90372">
                    <a:moveTo>
                      <a:pt x="0" y="0"/>
                    </a:moveTo>
                    <a:lnTo>
                      <a:pt x="2690372" y="0"/>
                    </a:lnTo>
                    <a:lnTo>
                      <a:pt x="26903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3828100" y="4326287"/>
              <a:ext cx="1939399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Flash_St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or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ag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e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3726371" y="5926538"/>
              <a:ext cx="2142858" cy="637273"/>
              <a:chOff x="0" y="0"/>
              <a:chExt cx="2690372" cy="8001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690372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90372">
                    <a:moveTo>
                      <a:pt x="0" y="0"/>
                    </a:moveTo>
                    <a:lnTo>
                      <a:pt x="2690372" y="0"/>
                    </a:lnTo>
                    <a:lnTo>
                      <a:pt x="2690372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4027142" y="6047923"/>
              <a:ext cx="1541315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Hybr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i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d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3726371" y="5065720"/>
              <a:ext cx="1031775" cy="637273"/>
              <a:chOff x="0" y="0"/>
              <a:chExt cx="1295400" cy="8001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95400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1295400">
                    <a:moveTo>
                      <a:pt x="0" y="0"/>
                    </a:moveTo>
                    <a:lnTo>
                      <a:pt x="1295400" y="0"/>
                    </a:lnTo>
                    <a:lnTo>
                      <a:pt x="1295400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3969142" y="5187105"/>
              <a:ext cx="546628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SSD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4837454" y="5065720"/>
              <a:ext cx="1031775" cy="637273"/>
              <a:chOff x="0" y="0"/>
              <a:chExt cx="1295400" cy="8001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95400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1295400">
                    <a:moveTo>
                      <a:pt x="0" y="0"/>
                    </a:moveTo>
                    <a:lnTo>
                      <a:pt x="1295400" y="0"/>
                    </a:lnTo>
                    <a:lnTo>
                      <a:pt x="1295400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4958840" y="5187105"/>
              <a:ext cx="789004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HDD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7003985" y="140958"/>
              <a:ext cx="6187531" cy="3217516"/>
            </a:xfrm>
            <a:custGeom>
              <a:avLst/>
              <a:gdLst/>
              <a:ahLst/>
              <a:cxnLst/>
              <a:rect r="r" b="b" t="t" l="l"/>
              <a:pathLst>
                <a:path h="3217516" w="6187531">
                  <a:moveTo>
                    <a:pt x="0" y="0"/>
                  </a:moveTo>
                  <a:lnTo>
                    <a:pt x="6187531" y="0"/>
                  </a:lnTo>
                  <a:lnTo>
                    <a:pt x="6187531" y="3217517"/>
                  </a:lnTo>
                  <a:lnTo>
                    <a:pt x="0" y="3217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10793022" y="862087"/>
              <a:ext cx="2106014" cy="637273"/>
              <a:chOff x="0" y="0"/>
              <a:chExt cx="2644115" cy="8001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644115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44115">
                    <a:moveTo>
                      <a:pt x="0" y="0"/>
                    </a:moveTo>
                    <a:lnTo>
                      <a:pt x="2644115" y="0"/>
                    </a:lnTo>
                    <a:lnTo>
                      <a:pt x="2644115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34" id="34"/>
            <p:cNvSpPr txBox="true"/>
            <p:nvPr/>
          </p:nvSpPr>
          <p:spPr>
            <a:xfrm rot="0">
              <a:off x="10992982" y="983472"/>
              <a:ext cx="1706093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Cp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u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_Sp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ee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d</a:t>
              </a:r>
            </a:p>
          </p:txBody>
        </p:sp>
        <p:grpSp>
          <p:nvGrpSpPr>
            <p:cNvPr name="Group 35" id="35"/>
            <p:cNvGrpSpPr/>
            <p:nvPr/>
          </p:nvGrpSpPr>
          <p:grpSpPr>
            <a:xfrm rot="0">
              <a:off x="10793022" y="2000074"/>
              <a:ext cx="2106014" cy="637273"/>
              <a:chOff x="0" y="0"/>
              <a:chExt cx="2644115" cy="8001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644115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44115">
                    <a:moveTo>
                      <a:pt x="0" y="0"/>
                    </a:moveTo>
                    <a:lnTo>
                      <a:pt x="2644115" y="0"/>
                    </a:lnTo>
                    <a:lnTo>
                      <a:pt x="2644115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10992982" y="2121459"/>
              <a:ext cx="1706093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Cp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u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_Brand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7882012" y="1431080"/>
              <a:ext cx="1031775" cy="637273"/>
              <a:chOff x="0" y="0"/>
              <a:chExt cx="1295400" cy="8001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295400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1295400">
                    <a:moveTo>
                      <a:pt x="0" y="0"/>
                    </a:moveTo>
                    <a:lnTo>
                      <a:pt x="1295400" y="0"/>
                    </a:lnTo>
                    <a:lnTo>
                      <a:pt x="1295400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8124782" y="1533415"/>
              <a:ext cx="530601" cy="383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50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475569"/>
                  </a:solidFill>
                  <a:latin typeface="Asap Bold"/>
                  <a:ea typeface="Asap Bold"/>
                  <a:cs typeface="Asap Bold"/>
                  <a:sym typeface="Asap Bold"/>
                </a:rPr>
                <a:t>Cpu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7882012" y="5065720"/>
              <a:ext cx="1031775" cy="637273"/>
              <a:chOff x="0" y="0"/>
              <a:chExt cx="1295400" cy="8001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295400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1295400">
                    <a:moveTo>
                      <a:pt x="0" y="0"/>
                    </a:moveTo>
                    <a:lnTo>
                      <a:pt x="1295400" y="0"/>
                    </a:lnTo>
                    <a:lnTo>
                      <a:pt x="1295400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8124585" y="5168055"/>
              <a:ext cx="546628" cy="383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150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475569"/>
                  </a:solidFill>
                  <a:latin typeface="Asap Bold"/>
                  <a:ea typeface="Asap Bold"/>
                  <a:cs typeface="Asap Bold"/>
                  <a:sym typeface="Asap Bold"/>
                </a:rPr>
                <a:t>Gpu</a:t>
              </a:r>
            </a:p>
          </p:txBody>
        </p:sp>
        <p:grpSp>
          <p:nvGrpSpPr>
            <p:cNvPr name="Group 44" id="44"/>
            <p:cNvGrpSpPr/>
            <p:nvPr/>
          </p:nvGrpSpPr>
          <p:grpSpPr>
            <a:xfrm rot="0">
              <a:off x="598678" y="5065720"/>
              <a:ext cx="1519027" cy="637273"/>
              <a:chOff x="0" y="0"/>
              <a:chExt cx="1907148" cy="8001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07148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1907148">
                    <a:moveTo>
                      <a:pt x="0" y="0"/>
                    </a:moveTo>
                    <a:lnTo>
                      <a:pt x="1907148" y="0"/>
                    </a:lnTo>
                    <a:lnTo>
                      <a:pt x="1907148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841448" y="5168055"/>
              <a:ext cx="1105998" cy="383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0"/>
                </a:lnSpc>
              </a:pPr>
              <a:r>
                <a:rPr lang="en-US" sz="1792" b="true">
                  <a:solidFill>
                    <a:srgbClr val="475569"/>
                  </a:solidFill>
                  <a:latin typeface="Asap Bold"/>
                  <a:ea typeface="Asap Bold"/>
                  <a:cs typeface="Asap Bold"/>
                  <a:sym typeface="Asap Bold"/>
                </a:rPr>
                <a:t>Memory</a:t>
              </a:r>
            </a:p>
          </p:txBody>
        </p:sp>
        <p:sp>
          <p:nvSpPr>
            <p:cNvPr name="Freeform 47" id="47"/>
            <p:cNvSpPr/>
            <p:nvPr/>
          </p:nvSpPr>
          <p:spPr>
            <a:xfrm flipH="false" flipV="false" rot="0">
              <a:off x="7003985" y="3775598"/>
              <a:ext cx="6187531" cy="3217516"/>
            </a:xfrm>
            <a:custGeom>
              <a:avLst/>
              <a:gdLst/>
              <a:ahLst/>
              <a:cxnLst/>
              <a:rect r="r" b="b" t="t" l="l"/>
              <a:pathLst>
                <a:path h="3217516" w="6187531">
                  <a:moveTo>
                    <a:pt x="0" y="0"/>
                  </a:moveTo>
                  <a:lnTo>
                    <a:pt x="6187531" y="0"/>
                  </a:lnTo>
                  <a:lnTo>
                    <a:pt x="6187531" y="3217516"/>
                  </a:lnTo>
                  <a:lnTo>
                    <a:pt x="0" y="3217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8" id="48"/>
            <p:cNvGrpSpPr/>
            <p:nvPr/>
          </p:nvGrpSpPr>
          <p:grpSpPr>
            <a:xfrm rot="0">
              <a:off x="10793022" y="4496727"/>
              <a:ext cx="2106014" cy="637273"/>
              <a:chOff x="0" y="0"/>
              <a:chExt cx="2644115" cy="8001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2644115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44115">
                    <a:moveTo>
                      <a:pt x="0" y="0"/>
                    </a:moveTo>
                    <a:lnTo>
                      <a:pt x="2644115" y="0"/>
                    </a:lnTo>
                    <a:lnTo>
                      <a:pt x="2644115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50" id="50"/>
            <p:cNvSpPr txBox="true"/>
            <p:nvPr/>
          </p:nvSpPr>
          <p:spPr>
            <a:xfrm rot="0">
              <a:off x="10992982" y="4618112"/>
              <a:ext cx="1706093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Gp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u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_Type</a:t>
              </a:r>
            </a:p>
          </p:txBody>
        </p:sp>
        <p:grpSp>
          <p:nvGrpSpPr>
            <p:cNvPr name="Group 51" id="51"/>
            <p:cNvGrpSpPr/>
            <p:nvPr/>
          </p:nvGrpSpPr>
          <p:grpSpPr>
            <a:xfrm rot="0">
              <a:off x="10793022" y="5634713"/>
              <a:ext cx="2106014" cy="637273"/>
              <a:chOff x="0" y="0"/>
              <a:chExt cx="2644115" cy="8001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2644115" cy="800100"/>
              </a:xfrm>
              <a:custGeom>
                <a:avLst/>
                <a:gdLst/>
                <a:ahLst/>
                <a:cxnLst/>
                <a:rect r="r" b="b" t="t" l="l"/>
                <a:pathLst>
                  <a:path h="800100" w="2644115">
                    <a:moveTo>
                      <a:pt x="0" y="0"/>
                    </a:moveTo>
                    <a:lnTo>
                      <a:pt x="2644115" y="0"/>
                    </a:lnTo>
                    <a:lnTo>
                      <a:pt x="2644115" y="800100"/>
                    </a:lnTo>
                    <a:lnTo>
                      <a:pt x="0" y="80010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53" id="53"/>
            <p:cNvSpPr txBox="true"/>
            <p:nvPr/>
          </p:nvSpPr>
          <p:spPr>
            <a:xfrm rot="0">
              <a:off x="10992982" y="5756099"/>
              <a:ext cx="1706093" cy="3641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792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Gp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u</a:t>
              </a:r>
              <a:r>
                <a:rPr lang="en-US" b="true" sz="1792" strike="noStrike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_Brand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28700" y="2657422"/>
            <a:ext cx="5664225" cy="32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9" indent="-313054" lvl="1">
              <a:lnSpc>
                <a:spcPts val="318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Làm sạch: bỏ laptop_ID, Product; Ram, Weight bỏ “GB”, “kg” thành số.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26109" indent="-313054" lvl="1">
              <a:lnSpc>
                <a:spcPts val="318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Kiểm tra khuyết: 0 giá trị khuyết (code vẫn có sẵn điền median/mode).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26109" indent="-313054" lvl="1">
              <a:lnSpc>
                <a:spcPts val="318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Kết quả: 13 → 18 cột.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235128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hăm dò biến số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393509" y="2273154"/>
            <a:ext cx="4093903" cy="3736479"/>
            <a:chOff x="0" y="0"/>
            <a:chExt cx="5458538" cy="49819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01205" cy="3859292"/>
            </a:xfrm>
            <a:custGeom>
              <a:avLst/>
              <a:gdLst/>
              <a:ahLst/>
              <a:cxnLst/>
              <a:rect r="r" b="b" t="t" l="l"/>
              <a:pathLst>
                <a:path h="3859292" w="5101205">
                  <a:moveTo>
                    <a:pt x="0" y="0"/>
                  </a:moveTo>
                  <a:lnTo>
                    <a:pt x="5101205" y="0"/>
                  </a:lnTo>
                  <a:lnTo>
                    <a:pt x="5101205" y="3859292"/>
                  </a:lnTo>
                  <a:lnTo>
                    <a:pt x="0" y="3859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02631" t="0" r="0" b="-19836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168156" y="4014867"/>
              <a:ext cx="5290381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Lệc</a:t>
              </a:r>
              <a:r>
                <a:rPr lang="en-US" sz="2100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h phải, phần lớn dưới 1500 €, ngoại lệ 3000 – 6000 €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068587" y="2273154"/>
            <a:ext cx="3825904" cy="3736479"/>
            <a:chOff x="0" y="0"/>
            <a:chExt cx="5101205" cy="49819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01205" cy="3859292"/>
            </a:xfrm>
            <a:custGeom>
              <a:avLst/>
              <a:gdLst/>
              <a:ahLst/>
              <a:cxnLst/>
              <a:rect r="r" b="b" t="t" l="l"/>
              <a:pathLst>
                <a:path h="3859292" w="5101205">
                  <a:moveTo>
                    <a:pt x="0" y="0"/>
                  </a:moveTo>
                  <a:lnTo>
                    <a:pt x="5101205" y="0"/>
                  </a:lnTo>
                  <a:lnTo>
                    <a:pt x="5101205" y="3859292"/>
                  </a:lnTo>
                  <a:lnTo>
                    <a:pt x="0" y="3859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02479" t="0" r="-200152" b="-1983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93423" y="4014867"/>
              <a:ext cx="4807782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8GB nhiều nhất, tiếp theo 4GB và 16GB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93509" y="6371582"/>
            <a:ext cx="3825904" cy="3321530"/>
            <a:chOff x="0" y="0"/>
            <a:chExt cx="5101205" cy="44287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01205" cy="3859292"/>
            </a:xfrm>
            <a:custGeom>
              <a:avLst/>
              <a:gdLst/>
              <a:ahLst/>
              <a:cxnLst/>
              <a:rect r="r" b="b" t="t" l="l"/>
              <a:pathLst>
                <a:path h="3859292" w="5101205">
                  <a:moveTo>
                    <a:pt x="0" y="0"/>
                  </a:moveTo>
                  <a:lnTo>
                    <a:pt x="5101205" y="0"/>
                  </a:lnTo>
                  <a:lnTo>
                    <a:pt x="5101205" y="3859292"/>
                  </a:lnTo>
                  <a:lnTo>
                    <a:pt x="0" y="3859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02631" t="-99278" r="0" b="-9908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122499" y="3956901"/>
              <a:ext cx="328433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256GB phổ biến nhất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68587" y="6371582"/>
            <a:ext cx="3825904" cy="3321530"/>
            <a:chOff x="0" y="0"/>
            <a:chExt cx="5101205" cy="44287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1205" cy="3859292"/>
            </a:xfrm>
            <a:custGeom>
              <a:avLst/>
              <a:gdLst/>
              <a:ahLst/>
              <a:cxnLst/>
              <a:rect r="r" b="b" t="t" l="l"/>
              <a:pathLst>
                <a:path h="3859292" w="5101205">
                  <a:moveTo>
                    <a:pt x="0" y="0"/>
                  </a:moveTo>
                  <a:lnTo>
                    <a:pt x="5101205" y="0"/>
                  </a:lnTo>
                  <a:lnTo>
                    <a:pt x="5101205" y="3859292"/>
                  </a:lnTo>
                  <a:lnTo>
                    <a:pt x="0" y="3859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02237" t="-99375" r="-100393" b="-9898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69220" y="3956901"/>
              <a:ext cx="360402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T</a:t>
              </a:r>
              <a:r>
                <a:rPr lang="en-US" sz="2100" strike="noStrike" u="none">
                  <a:solidFill>
                    <a:srgbClr val="000000"/>
                  </a:solidFill>
                  <a:latin typeface="Asap"/>
                  <a:ea typeface="Asap"/>
                  <a:cs typeface="Asap"/>
                  <a:sym typeface="Asap"/>
                </a:rPr>
                <a:t>ập trung 2.5 – 2.8 GHz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235128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T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hăm dò biến phân loại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060653" y="2245623"/>
            <a:ext cx="3547481" cy="3475688"/>
          </a:xfrm>
          <a:custGeom>
            <a:avLst/>
            <a:gdLst/>
            <a:ahLst/>
            <a:cxnLst/>
            <a:rect r="r" b="b" t="t" l="l"/>
            <a:pathLst>
              <a:path h="3475688" w="3547481">
                <a:moveTo>
                  <a:pt x="0" y="0"/>
                </a:moveTo>
                <a:lnTo>
                  <a:pt x="3547481" y="0"/>
                </a:lnTo>
                <a:lnTo>
                  <a:pt x="3547481" y="3475688"/>
                </a:lnTo>
                <a:lnTo>
                  <a:pt x="0" y="34756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298965" b="-12822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53088" y="5931337"/>
            <a:ext cx="3507566" cy="3785021"/>
          </a:xfrm>
          <a:custGeom>
            <a:avLst/>
            <a:gdLst/>
            <a:ahLst/>
            <a:cxnLst/>
            <a:rect r="r" b="b" t="t" l="l"/>
            <a:pathLst>
              <a:path h="3785021" w="3507566">
                <a:moveTo>
                  <a:pt x="0" y="0"/>
                </a:moveTo>
                <a:lnTo>
                  <a:pt x="3507565" y="0"/>
                </a:lnTo>
                <a:lnTo>
                  <a:pt x="3507565" y="3785021"/>
                </a:lnTo>
                <a:lnTo>
                  <a:pt x="0" y="3785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8345" t="0" r="-205160" b="-1095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82252" y="5846180"/>
            <a:ext cx="3477048" cy="3955335"/>
          </a:xfrm>
          <a:custGeom>
            <a:avLst/>
            <a:gdLst/>
            <a:ahLst/>
            <a:cxnLst/>
            <a:rect r="r" b="b" t="t" l="l"/>
            <a:pathLst>
              <a:path h="3955335" w="3477048">
                <a:moveTo>
                  <a:pt x="0" y="0"/>
                </a:moveTo>
                <a:lnTo>
                  <a:pt x="3477048" y="0"/>
                </a:lnTo>
                <a:lnTo>
                  <a:pt x="3477048" y="3955335"/>
                </a:lnTo>
                <a:lnTo>
                  <a:pt x="0" y="39553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5519" r="-307047" b="-502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914452"/>
            <a:ext cx="7488357" cy="301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Dell 297, Lenovo 297, HP 274 chiếm đa số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Notebook 727 (Gaming 205, Ultrabook 196)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Windows 10: 1072 máy; Full HD 1920×1080: 841 máy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Intel Core i7 527, i5 423; đồ họa tích hợp Intel 722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8086" y="2510836"/>
            <a:ext cx="4778898" cy="5760744"/>
          </a:xfrm>
          <a:custGeom>
            <a:avLst/>
            <a:gdLst/>
            <a:ahLst/>
            <a:cxnLst/>
            <a:rect r="r" b="b" t="t" l="l"/>
            <a:pathLst>
              <a:path h="5760744" w="4778898">
                <a:moveTo>
                  <a:pt x="0" y="0"/>
                </a:moveTo>
                <a:lnTo>
                  <a:pt x="4778898" y="0"/>
                </a:lnTo>
                <a:lnTo>
                  <a:pt x="4778898" y="5760744"/>
                </a:lnTo>
                <a:lnTo>
                  <a:pt x="0" y="57607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1016" y="2510836"/>
            <a:ext cx="4778898" cy="5760744"/>
          </a:xfrm>
          <a:custGeom>
            <a:avLst/>
            <a:gdLst/>
            <a:ahLst/>
            <a:cxnLst/>
            <a:rect r="r" b="b" t="t" l="l"/>
            <a:pathLst>
              <a:path h="5760744" w="4778898">
                <a:moveTo>
                  <a:pt x="0" y="0"/>
                </a:moveTo>
                <a:lnTo>
                  <a:pt x="4778898" y="0"/>
                </a:lnTo>
                <a:lnTo>
                  <a:pt x="4778898" y="5760744"/>
                </a:lnTo>
                <a:lnTo>
                  <a:pt x="0" y="57607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38981" y="9113590"/>
            <a:ext cx="11410039" cy="876901"/>
            <a:chOff x="0" y="0"/>
            <a:chExt cx="3005113" cy="2309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05113" cy="230953"/>
            </a:xfrm>
            <a:custGeom>
              <a:avLst/>
              <a:gdLst/>
              <a:ahLst/>
              <a:cxnLst/>
              <a:rect r="r" b="b" t="t" l="l"/>
              <a:pathLst>
                <a:path h="230953" w="3005113">
                  <a:moveTo>
                    <a:pt x="0" y="0"/>
                  </a:moveTo>
                  <a:lnTo>
                    <a:pt x="3005113" y="0"/>
                  </a:lnTo>
                  <a:lnTo>
                    <a:pt x="3005113" y="230953"/>
                  </a:lnTo>
                  <a:lnTo>
                    <a:pt x="0" y="230953"/>
                  </a:lnTo>
                  <a:close/>
                </a:path>
              </a:pathLst>
            </a:custGeom>
            <a:ln w="38100" cap="sq">
              <a:solidFill>
                <a:srgbClr val="99AC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005113" cy="288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Asap Medium"/>
                  <a:ea typeface="Asap Medium"/>
                  <a:cs typeface="Asap Medium"/>
                  <a:sym typeface="Asap Medium"/>
                </a:rPr>
                <a:t>Quy tắc IQR: loại Price &gt; Q3 + 1.5 × IQR = 2821 € (Q1 = 599, Q3 ≈ 1488). Loại 29 dòng.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232389"/>
            <a:ext cx="1235128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Xử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lý ngoại lệ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80993" y="8376355"/>
            <a:ext cx="20530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Trước (1303 mẫu)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77078" y="8376355"/>
            <a:ext cx="180677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Sau (1274 mẫu)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235128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Chọn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biến số, tương quan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52524" y="5305874"/>
            <a:ext cx="16782953" cy="1882539"/>
          </a:xfrm>
          <a:custGeom>
            <a:avLst/>
            <a:gdLst/>
            <a:ahLst/>
            <a:cxnLst/>
            <a:rect r="r" b="b" t="t" l="l"/>
            <a:pathLst>
              <a:path h="1882539" w="16782953">
                <a:moveTo>
                  <a:pt x="0" y="0"/>
                </a:moveTo>
                <a:lnTo>
                  <a:pt x="16782952" y="0"/>
                </a:lnTo>
                <a:lnTo>
                  <a:pt x="16782952" y="1882538"/>
                </a:lnTo>
                <a:lnTo>
                  <a:pt x="0" y="1882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43" t="-784071" r="-13237" b="-598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908114"/>
            <a:ext cx="12910691" cy="162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Pearson r với Price_euros, ngưỡng |r| &gt; 0.2 (tính trên 1274 mẫu)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Giữ 5: Ram 0.71, SSD 0.65, Cpu_Speed 0.43, Ips 0.25, Touchscreen 0.22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Loại 5: Weight 0.08, Inches −0.02, HDD −0.10, Flash_Storage −0.03, Hybrid −0.01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235128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Chọn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biến phân loại, ANOVA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736036" y="2571070"/>
            <a:ext cx="9523264" cy="4713534"/>
          </a:xfrm>
          <a:custGeom>
            <a:avLst/>
            <a:gdLst/>
            <a:ahLst/>
            <a:cxnLst/>
            <a:rect r="r" b="b" t="t" l="l"/>
            <a:pathLst>
              <a:path h="4713534" w="9523264">
                <a:moveTo>
                  <a:pt x="0" y="0"/>
                </a:moveTo>
                <a:lnTo>
                  <a:pt x="9523264" y="0"/>
                </a:lnTo>
                <a:lnTo>
                  <a:pt x="9523264" y="4713535"/>
                </a:lnTo>
                <a:lnTo>
                  <a:pt x="0" y="4713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90120"/>
            <a:ext cx="6175643" cy="418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H0: giá trung bình các nhóm như nhau; ngưỡng p &lt; 0.05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Cả 7 biến đều p &lt; 0.05 nên giữ cả 7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F-test: Cpu_Brand 211.4, TypeName 169.5, Resolution 55.0, Gpu_Brand 53.8, Gpu_Type 42.7, OpSys 19.9, Company 12.5</a:t>
            </a:r>
          </a:p>
          <a:p>
            <a:pPr algn="l">
              <a:lnSpc>
                <a:spcPts val="175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Tập biến: 5 biến số + 7 biến phân loại → Price_euros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4101167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Mã hóa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 One-Hot &amp; chuẩn hóa Z-score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3484588"/>
            <a:ext cx="8115300" cy="4747450"/>
            <a:chOff x="0" y="0"/>
            <a:chExt cx="11430000" cy="6686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686550"/>
            </a:xfrm>
            <a:custGeom>
              <a:avLst/>
              <a:gdLst/>
              <a:ahLst/>
              <a:cxnLst/>
              <a:rect r="r" b="b" t="t" l="l"/>
              <a:pathLst>
                <a:path h="668655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686550"/>
                  </a:lnTo>
                  <a:lnTo>
                    <a:pt x="0" y="6686550"/>
                  </a:lnTo>
                  <a:close/>
                </a:path>
              </a:pathLst>
            </a:custGeom>
            <a:solidFill>
              <a:srgbClr val="0F182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4003732"/>
            <a:ext cx="385762" cy="342900"/>
            <a:chOff x="0" y="0"/>
            <a:chExt cx="514350" cy="457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83" r="0" b="-20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6428924"/>
            <a:ext cx="300038" cy="342900"/>
            <a:chOff x="0" y="0"/>
            <a:chExt cx="400050" cy="457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" r="0" b="-20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4477601"/>
            <a:ext cx="7343775" cy="127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Phân rã các biến phân loại gốc thành không gian vector nhị phân đa chiều, triệt tiêu sự phụ thuộc tuyến tính (drop_first=True).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02793"/>
            <a:ext cx="7544428" cy="845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299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Ép phân phối của các biến số về dạng chuẩn (Mean = 0, Std = 1). Đưa các biến số về cùng thang đo.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3063" y="3958488"/>
            <a:ext cx="278475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sap Bold"/>
                <a:ea typeface="Asap Bold"/>
                <a:cs typeface="Asap Bold"/>
                <a:sym typeface="Asap Bold"/>
              </a:rPr>
              <a:t>One-Hot Encoding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7338" y="6383680"/>
            <a:ext cx="215348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sap Bold"/>
                <a:ea typeface="Asap Bold"/>
                <a:cs typeface="Asap Bold"/>
                <a:sym typeface="Asap Bold"/>
              </a:rPr>
              <a:t>Z-score Scaler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713845" y="7288746"/>
            <a:ext cx="2975610" cy="459867"/>
            <a:chOff x="0" y="0"/>
            <a:chExt cx="4191000" cy="647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910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91000">
                  <a:moveTo>
                    <a:pt x="0" y="323850"/>
                  </a:moveTo>
                  <a:cubicBezTo>
                    <a:pt x="0" y="145034"/>
                    <a:pt x="145034" y="0"/>
                    <a:pt x="323850" y="0"/>
                  </a:cubicBezTo>
                  <a:lnTo>
                    <a:pt x="3867150" y="0"/>
                  </a:lnTo>
                  <a:cubicBezTo>
                    <a:pt x="4045966" y="0"/>
                    <a:pt x="4191000" y="145034"/>
                    <a:pt x="4191000" y="323850"/>
                  </a:cubicBezTo>
                  <a:cubicBezTo>
                    <a:pt x="4191000" y="502666"/>
                    <a:pt x="4045966" y="647700"/>
                    <a:pt x="3867150" y="647700"/>
                  </a:cubicBezTo>
                  <a:lnTo>
                    <a:pt x="323850" y="647700"/>
                  </a:lnTo>
                  <a:cubicBezTo>
                    <a:pt x="145034" y="647700"/>
                    <a:pt x="0" y="502666"/>
                    <a:pt x="0" y="323850"/>
                  </a:cubicBezTo>
                  <a:close/>
                </a:path>
              </a:pathLst>
            </a:custGeom>
            <a:solidFill>
              <a:srgbClr val="272E3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038457" y="7410475"/>
            <a:ext cx="216408" cy="216408"/>
            <a:chOff x="0" y="0"/>
            <a:chExt cx="304800" cy="3048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25" r="0" b="-312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037570" y="3978300"/>
            <a:ext cx="4328160" cy="27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4"/>
              </a:lnSpc>
            </a:pPr>
            <a:r>
              <a:rPr lang="en-US" sz="1703">
                <a:solidFill>
                  <a:srgbClr val="60A5FA"/>
                </a:solidFill>
                <a:latin typeface="Asap"/>
                <a:ea typeface="Asap"/>
                <a:cs typeface="Asap"/>
                <a:sym typeface="Asap"/>
              </a:rPr>
              <a:t>KÍCH THƯỚC ĐẦU RA MỚI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7635" y="4406481"/>
            <a:ext cx="162803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76"/>
              </a:lnSpc>
            </a:pPr>
            <a:r>
              <a:rPr lang="en-US" sz="11980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63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28071" y="6349581"/>
            <a:ext cx="3147158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5"/>
              </a:lnSpc>
            </a:pPr>
            <a:r>
              <a:rPr lang="en-US" sz="2129">
                <a:solidFill>
                  <a:srgbClr val="94A3B8"/>
                </a:solidFill>
                <a:latin typeface="Asap"/>
                <a:ea typeface="Asap"/>
                <a:cs typeface="Asap"/>
                <a:sym typeface="Asap"/>
              </a:rPr>
              <a:t>Chiều đặc trưng (Features)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02744" y="7387425"/>
            <a:ext cx="1976526" cy="23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9"/>
              </a:lnSpc>
            </a:pPr>
            <a:r>
              <a:rPr lang="en-US" sz="1490">
                <a:solidFill>
                  <a:srgbClr val="E2E8F0"/>
                </a:solidFill>
                <a:latin typeface="Asap"/>
                <a:ea typeface="Asap"/>
                <a:cs typeface="Asap"/>
                <a:sym typeface="Asap"/>
              </a:rPr>
              <a:t>SẴN SÀNG CHO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93005" y="6796748"/>
            <a:ext cx="3817291" cy="33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5"/>
              </a:lnSpc>
            </a:pPr>
            <a:r>
              <a:rPr lang="en-US" sz="2129">
                <a:solidFill>
                  <a:srgbClr val="94A3B8"/>
                </a:solidFill>
                <a:latin typeface="Asap"/>
                <a:ea typeface="Asap"/>
                <a:cs typeface="Asap"/>
                <a:sym typeface="Asap"/>
              </a:rPr>
              <a:t>1 mục tiêu. Chia train/test 80/20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7011423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Pipeli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5976" y="3316656"/>
            <a:ext cx="15796049" cy="5054736"/>
          </a:xfrm>
          <a:custGeom>
            <a:avLst/>
            <a:gdLst/>
            <a:ahLst/>
            <a:cxnLst/>
            <a:rect r="r" b="b" t="t" l="l"/>
            <a:pathLst>
              <a:path h="5054736" w="15796049">
                <a:moveTo>
                  <a:pt x="0" y="0"/>
                </a:moveTo>
                <a:lnTo>
                  <a:pt x="15796048" y="0"/>
                </a:lnTo>
                <a:lnTo>
                  <a:pt x="15796048" y="5054736"/>
                </a:lnTo>
                <a:lnTo>
                  <a:pt x="0" y="5054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93815" y="3834176"/>
            <a:ext cx="248500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S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tandardScaler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02811" y="3834176"/>
            <a:ext cx="331200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Li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nearRegression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82809" y="3834176"/>
            <a:ext cx="352238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Poly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nomialFeatures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21011" y="4708644"/>
            <a:ext cx="3045978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spc="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Tạo đặc trưng đa thức và tương tác; bậc 1 tương đương hồi quy tuyến tính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42061" y="4708644"/>
            <a:ext cx="3312831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spc="1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Đưa các biến về cùng thang đo, tránh biến có khoảng giá trị lớn (SSD, 0 – 1024) áp đảo biến nhỏ (Cpu_Speed, khoảng 1 – 3.6)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104835" y="4699119"/>
            <a:ext cx="3107954" cy="7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  <a:spcBef>
                <a:spcPct val="0"/>
              </a:spcBef>
            </a:pPr>
            <a:r>
              <a:rPr lang="en-US" sz="2240" spc="11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Tìm đường hồi quy tối ưu, dự đoán Price_euros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75672" y="8991600"/>
            <a:ext cx="753665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So sánh bậc 1, 2, 3 bằng R² trên tập train và test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035210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Bậc 2 và bậc 3 bị overfitti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43802"/>
          <a:ext cx="16230600" cy="2466975"/>
        </p:xfrm>
        <a:graphic>
          <a:graphicData uri="http://schemas.openxmlformats.org/drawingml/2006/table">
            <a:tbl>
              <a:tblPr/>
              <a:tblGrid>
                <a:gridCol w="2056119"/>
                <a:gridCol w="3570580"/>
                <a:gridCol w="3837804"/>
                <a:gridCol w="6766097"/>
              </a:tblGrid>
              <a:tr h="822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Bậc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R² tra</a:t>
                      </a: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R²</a:t>
                      </a:r>
                      <a:r>
                        <a:rPr lang="en-US" b="true" sz="2025" strike="noStrike" u="none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25">
                          <a:solidFill>
                            <a:srgbClr val="F8FAFC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Nhận xét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0.8946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0.4730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Học thuộc dữ liệu cũ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00000"/>
                          </a:solidFill>
                          <a:latin typeface="Asap Bold"/>
                          <a:ea typeface="Asap Bold"/>
                          <a:cs typeface="Asap Bold"/>
                          <a:sym typeface="Asap Bold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0.9576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−64.0648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35"/>
                        </a:lnSpc>
                        <a:defRPr/>
                      </a:pPr>
                      <a:r>
                        <a:rPr lang="en-US" sz="2025">
                          <a:solidFill>
                            <a:srgbClr val="000000"/>
                          </a:solidFill>
                          <a:latin typeface="Asap"/>
                          <a:ea typeface="Asap"/>
                          <a:cs typeface="Asap"/>
                          <a:sym typeface="Asap"/>
                        </a:rPr>
                        <a:t>Kém hơn đường trung bình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" id="5"/>
          <p:cNvSpPr/>
          <p:nvPr/>
        </p:nvSpPr>
        <p:spPr>
          <a:xfrm flipH="false" flipV="false" rot="0">
            <a:off x="1714904" y="5234627"/>
            <a:ext cx="6610210" cy="4327018"/>
          </a:xfrm>
          <a:custGeom>
            <a:avLst/>
            <a:gdLst/>
            <a:ahLst/>
            <a:cxnLst/>
            <a:rect r="r" b="b" t="t" l="l"/>
            <a:pathLst>
              <a:path h="4327018" w="6610210">
                <a:moveTo>
                  <a:pt x="0" y="0"/>
                </a:moveTo>
                <a:lnTo>
                  <a:pt x="6610210" y="0"/>
                </a:lnTo>
                <a:lnTo>
                  <a:pt x="6610210" y="4327017"/>
                </a:lnTo>
                <a:lnTo>
                  <a:pt x="0" y="432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62886" y="5234627"/>
            <a:ext cx="6610210" cy="4327018"/>
          </a:xfrm>
          <a:custGeom>
            <a:avLst/>
            <a:gdLst/>
            <a:ahLst/>
            <a:cxnLst/>
            <a:rect r="r" b="b" t="t" l="l"/>
            <a:pathLst>
              <a:path h="4327018" w="6610210">
                <a:moveTo>
                  <a:pt x="0" y="0"/>
                </a:moveTo>
                <a:lnTo>
                  <a:pt x="6610210" y="0"/>
                </a:lnTo>
                <a:lnTo>
                  <a:pt x="6610210" y="4327017"/>
                </a:lnTo>
                <a:lnTo>
                  <a:pt x="0" y="4327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32389"/>
            <a:ext cx="10352106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Bậc 1, mô hình được chọ</a:t>
            </a:r>
            <a:r>
              <a:rPr lang="en-US" b="true" sz="6200" u="none">
                <a:solidFill>
                  <a:srgbClr val="1836B2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33400"/>
            <a:ext cx="533955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N</a:t>
            </a:r>
            <a:r>
              <a:rPr lang="en-US" b="true" sz="3000" spc="-60" u="none">
                <a:solidFill>
                  <a:srgbClr val="000000"/>
                </a:solidFill>
                <a:latin typeface="Asap Medium"/>
                <a:ea typeface="Asap Medium"/>
                <a:cs typeface="Asap Medium"/>
                <a:sym typeface="Asap Medium"/>
              </a:rPr>
              <a:t>ội dung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089393" y="2601119"/>
            <a:ext cx="10169907" cy="6657181"/>
          </a:xfrm>
          <a:custGeom>
            <a:avLst/>
            <a:gdLst/>
            <a:ahLst/>
            <a:cxnLst/>
            <a:rect r="r" b="b" t="t" l="l"/>
            <a:pathLst>
              <a:path h="6657181" w="10169907">
                <a:moveTo>
                  <a:pt x="0" y="0"/>
                </a:moveTo>
                <a:lnTo>
                  <a:pt x="10169907" y="0"/>
                </a:lnTo>
                <a:lnTo>
                  <a:pt x="10169907" y="6657181"/>
                </a:lnTo>
                <a:lnTo>
                  <a:pt x="0" y="6657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63019"/>
            <a:ext cx="5501598" cy="280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8" indent="-302264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spc="-56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R² train = 0.7968, R² test = 0.7725</a:t>
            </a:r>
          </a:p>
          <a:p>
            <a:pPr algn="l">
              <a:lnSpc>
                <a:spcPts val="2079"/>
              </a:lnSpc>
              <a:spcBef>
                <a:spcPct val="0"/>
              </a:spcBef>
            </a:pPr>
          </a:p>
          <a:p>
            <a:pPr algn="l" marL="604528" indent="-302264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spc="-56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Chênh lệch 2.44%, không overfitting</a:t>
            </a:r>
          </a:p>
          <a:p>
            <a:pPr algn="l">
              <a:lnSpc>
                <a:spcPts val="2079"/>
              </a:lnSpc>
              <a:spcBef>
                <a:spcPct val="0"/>
              </a:spcBef>
            </a:pPr>
          </a:p>
          <a:p>
            <a:pPr algn="l" marL="604528" indent="-302264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spc="-56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Tổng quát hóa tốt hơn bậc 2 (0.4730) và bậc 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45054" y="-4222570"/>
            <a:ext cx="9150422" cy="6921093"/>
            <a:chOff x="0" y="0"/>
            <a:chExt cx="7102488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2488" cy="5372100"/>
            </a:xfrm>
            <a:custGeom>
              <a:avLst/>
              <a:gdLst/>
              <a:ahLst/>
              <a:cxnLst/>
              <a:rect r="r" b="b" t="t" l="l"/>
              <a:pathLst>
                <a:path h="5372100" w="7102488">
                  <a:moveTo>
                    <a:pt x="5551818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5551818" y="5372100"/>
                  </a:lnTo>
                  <a:lnTo>
                    <a:pt x="7102488" y="2686050"/>
                  </a:lnTo>
                  <a:lnTo>
                    <a:pt x="5551818" y="0"/>
                  </a:lnTo>
                  <a:close/>
                </a:path>
              </a:pathLst>
            </a:custGeom>
            <a:solidFill>
              <a:srgbClr val="A066C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94761" y="575888"/>
            <a:ext cx="16427070" cy="1701967"/>
            <a:chOff x="0" y="0"/>
            <a:chExt cx="21902760" cy="2269289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0" y="0"/>
              <a:ext cx="21902760" cy="2269289"/>
              <a:chOff x="0" y="0"/>
              <a:chExt cx="51850513" cy="5372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51850513" cy="5372100"/>
              </a:xfrm>
              <a:custGeom>
                <a:avLst/>
                <a:gdLst/>
                <a:ahLst/>
                <a:cxnLst/>
                <a:rect r="r" b="b" t="t" l="l"/>
                <a:pathLst>
                  <a:path h="5372100" w="51850513">
                    <a:moveTo>
                      <a:pt x="50299844" y="0"/>
                    </a:moveTo>
                    <a:lnTo>
                      <a:pt x="1550670" y="0"/>
                    </a:lnTo>
                    <a:lnTo>
                      <a:pt x="0" y="2686050"/>
                    </a:lnTo>
                    <a:lnTo>
                      <a:pt x="1550670" y="5372100"/>
                    </a:lnTo>
                    <a:lnTo>
                      <a:pt x="50299844" y="5372100"/>
                    </a:lnTo>
                    <a:lnTo>
                      <a:pt x="51850513" y="2686050"/>
                    </a:lnTo>
                    <a:lnTo>
                      <a:pt x="50299844" y="0"/>
                    </a:lnTo>
                    <a:close/>
                  </a:path>
                </a:pathLst>
              </a:custGeom>
              <a:solidFill>
                <a:srgbClr val="1836B2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2372272" y="397621"/>
              <a:ext cx="17581451" cy="1540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17"/>
                </a:lnSpc>
                <a:spcBef>
                  <a:spcPct val="0"/>
                </a:spcBef>
              </a:pPr>
              <a:r>
                <a:rPr lang="en-US" b="true" sz="7925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Kết quả &amp; hạn chế 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H="true">
            <a:off x="9144000" y="2996403"/>
            <a:ext cx="19050" cy="6261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2920203"/>
            <a:ext cx="3431977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1. Kết quả đạt được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44075" y="2920203"/>
            <a:ext cx="1884313" cy="55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Asap Semi-Bold"/>
                <a:ea typeface="Asap Semi-Bold"/>
                <a:cs typeface="Asap Semi-Bold"/>
                <a:sym typeface="Asap Semi-Bold"/>
              </a:rPr>
              <a:t>2. Hạn chế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19500"/>
            <a:ext cx="7537615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ma</a:t>
            </a: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in.py chạy tự động: tiền xử lý → EDA → huấn luyện; mô hình đóng gói bằng scikit-learn Pipeline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Yếu tố ảnh hưởng giá mạnh nhất: Ram (r = 0.71), SSD (r = 0.65);</a:t>
            </a: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Cpu_Brand (F = 211.4), TypeName (F = 169.5)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Mô hình tốt nhất: hồi quy tuyến tính, R² test = 0.7725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Bậc 2 và 3 bị overfitting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40 test tự động (pytest) đều pass</a:t>
            </a:r>
          </a:p>
          <a:p>
            <a:pPr algn="l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744075" y="3619500"/>
            <a:ext cx="7213000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Dữ liệu tập trung phân khúc phổ thông và tầm trung; 29 mẫu trên 2821 € bị loại như ngoại lệ.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Mới thử hồi quy tuyến tính và đa thức; chưa so sánh Random Forest, XGBoost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Thi</a:t>
            </a: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ếu yếu tố thực tế: năm sản xuất, thời gian sử dụng, bảo hành, ngoại hình</a:t>
            </a:r>
          </a:p>
          <a:p>
            <a:pPr algn="l">
              <a:lnSpc>
                <a:spcPts val="1919"/>
              </a:lnSpc>
              <a:spcBef>
                <a:spcPct val="0"/>
              </a:spcBef>
            </a:pPr>
          </a:p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Chia train/test một lần; scaler và lọc biến fit trên toàn bộ dữ liệu, có thể rò rỉ thông tin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36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34808" y="-205809"/>
            <a:ext cx="6044632" cy="3451286"/>
          </a:xfrm>
          <a:custGeom>
            <a:avLst/>
            <a:gdLst/>
            <a:ahLst/>
            <a:cxnLst/>
            <a:rect r="r" b="b" t="t" l="l"/>
            <a:pathLst>
              <a:path h="3451286" w="6044632">
                <a:moveTo>
                  <a:pt x="0" y="0"/>
                </a:moveTo>
                <a:lnTo>
                  <a:pt x="6044632" y="0"/>
                </a:lnTo>
                <a:lnTo>
                  <a:pt x="6044632" y="3451287"/>
                </a:lnTo>
                <a:lnTo>
                  <a:pt x="0" y="3451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1576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90291" y="6724549"/>
            <a:ext cx="6630572" cy="3785839"/>
          </a:xfrm>
          <a:custGeom>
            <a:avLst/>
            <a:gdLst/>
            <a:ahLst/>
            <a:cxnLst/>
            <a:rect r="r" b="b" t="t" l="l"/>
            <a:pathLst>
              <a:path h="3785839" w="6630572">
                <a:moveTo>
                  <a:pt x="6630572" y="0"/>
                </a:moveTo>
                <a:lnTo>
                  <a:pt x="0" y="0"/>
                </a:lnTo>
                <a:lnTo>
                  <a:pt x="0" y="3785839"/>
                </a:lnTo>
                <a:lnTo>
                  <a:pt x="6630572" y="3785839"/>
                </a:lnTo>
                <a:lnTo>
                  <a:pt x="66305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51576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24357" y="4087758"/>
            <a:ext cx="9639286" cy="2111484"/>
            <a:chOff x="0" y="0"/>
            <a:chExt cx="12852382" cy="281531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2852382" cy="1594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014"/>
                </a:lnSpc>
                <a:spcBef>
                  <a:spcPct val="0"/>
                </a:spcBef>
              </a:pPr>
              <a:r>
                <a:rPr lang="en-US" b="true" sz="8195" u="none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Xin cảm ơn!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5130308" y="1719159"/>
              <a:ext cx="2591766" cy="10961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884"/>
                </a:lnSpc>
              </a:pPr>
              <a:r>
                <a:rPr lang="en-US" b="true" sz="4917" spc="590">
                  <a:solidFill>
                    <a:srgbClr val="FFFFFF"/>
                  </a:solidFill>
                  <a:latin typeface="Asap Semi-Bold"/>
                  <a:ea typeface="Asap Semi-Bold"/>
                  <a:cs typeface="Asap Semi-Bold"/>
                  <a:sym typeface="Asap Semi-Bold"/>
                </a:rPr>
                <a:t>Q&amp;A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DAHW23KrF00</dc:identifier>
  <dcterms:modified xsi:type="dcterms:W3CDTF">2011-08-01T06:04:30Z</dcterms:modified>
  <cp:revision>1</cp:revision>
  <dc:title>IE313 - PHÂN TÍCH CẤU HÌNH VÀ XÂY DỰNG MÔ HÌNH DỰ ĐOÁN GIÁ LAPTOP</dc:title>
</cp:coreProperties>
</file>